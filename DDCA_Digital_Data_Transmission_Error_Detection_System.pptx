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DDCA • DIGITAL DATA COMMUNICATION &amp; APPLICATIONS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641080" y="651052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60" kern="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+ SIMULATION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3108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8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3108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8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731520"/>
            <a:ext cx="0" cy="516636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57032" y="731520"/>
            <a:ext cx="0" cy="516636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95944" y="731520"/>
            <a:ext cx="0" cy="516636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34856" y="731520"/>
            <a:ext cx="0" cy="516636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73768" y="731520"/>
            <a:ext cx="0" cy="516636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12680" y="731520"/>
            <a:ext cx="0" cy="516636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1592" y="731520"/>
            <a:ext cx="0" cy="516636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90504" y="731520"/>
            <a:ext cx="0" cy="516636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29416" y="731520"/>
            <a:ext cx="0" cy="516636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868680"/>
            <a:ext cx="3840480" cy="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1307592"/>
            <a:ext cx="3840480" cy="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1746504"/>
            <a:ext cx="3840480" cy="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18120" y="2185416"/>
            <a:ext cx="3840480" cy="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8120" y="2624328"/>
            <a:ext cx="3840480" cy="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3063240"/>
            <a:ext cx="3840480" cy="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3502152"/>
            <a:ext cx="3840480" cy="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3941064"/>
            <a:ext cx="3840480" cy="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4379976"/>
            <a:ext cx="3840480" cy="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4818888"/>
            <a:ext cx="3840480" cy="0"/>
          </a:xfrm>
          <a:prstGeom prst="line">
            <a:avLst/>
          </a:prstGeom>
          <a:noFill/>
          <a:ln w="8890">
            <a:solidFill>
              <a:srgbClr val="163A5C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621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8A7B5"/>
                </a:solidFill>
              </a:rPr>
              <a:t>DDCA PROJECT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" y="1078992"/>
            <a:ext cx="6583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50" b="1" dirty="0">
                <a:solidFill>
                  <a:srgbClr val="FFFFFF"/>
                </a:solidFill>
              </a:rPr>
              <a:t>DESIGN AND</a:t>
            </a:r>
            <a:endParaRPr lang="en-US" sz="2650" dirty="0"/>
          </a:p>
          <a:p>
            <a:pPr indent="0" marL="0">
              <a:buNone/>
            </a:pPr>
            <a:r>
              <a:rPr lang="en-US" sz="2650" b="1" dirty="0">
                <a:solidFill>
                  <a:srgbClr val="FFFFFF"/>
                </a:solidFill>
              </a:rPr>
              <a:t>SIMULATION OF</a:t>
            </a:r>
            <a:endParaRPr lang="en-US" sz="2650" dirty="0"/>
          </a:p>
          <a:p>
            <a:pPr indent="0" marL="0">
              <a:buNone/>
            </a:pPr>
            <a:r>
              <a:rPr lang="en-US" sz="2650" b="1" dirty="0">
                <a:solidFill>
                  <a:srgbClr val="FFFFFF"/>
                </a:solidFill>
              </a:rPr>
              <a:t>DIGITAL DATA</a:t>
            </a:r>
            <a:endParaRPr lang="en-US" sz="2650" dirty="0"/>
          </a:p>
          <a:p>
            <a:pPr indent="0" marL="0">
              <a:buNone/>
            </a:pPr>
            <a:r>
              <a:rPr lang="en-US" sz="2650" b="1" dirty="0">
                <a:solidFill>
                  <a:srgbClr val="FFFFFF"/>
                </a:solidFill>
              </a:rPr>
              <a:t>TRANSMISSION</a:t>
            </a:r>
            <a:endParaRPr lang="en-US" sz="2650" dirty="0"/>
          </a:p>
          <a:p>
            <a:pPr indent="0" marL="0">
              <a:buNone/>
            </a:pPr>
            <a:r>
              <a:rPr lang="en-US" sz="2650" b="1" dirty="0">
                <a:solidFill>
                  <a:srgbClr val="FFFFFF"/>
                </a:solidFill>
              </a:rPr>
              <a:t>ERROR DETECTION</a:t>
            </a:r>
            <a:endParaRPr lang="en-US" sz="2650" dirty="0"/>
          </a:p>
          <a:p>
            <a:pPr indent="0" marL="0">
              <a:buNone/>
            </a:pPr>
            <a:r>
              <a:rPr lang="en-US" sz="2650" b="1" dirty="0">
                <a:solidFill>
                  <a:srgbClr val="FFFFFF"/>
                </a:solidFill>
              </a:rPr>
              <a:t>SYSTEM</a:t>
            </a:r>
            <a:endParaRPr lang="en-US" sz="2650" dirty="0"/>
          </a:p>
        </p:txBody>
      </p:sp>
      <p:sp>
        <p:nvSpPr>
          <p:cNvPr id="23" name="Text 21"/>
          <p:cNvSpPr/>
          <p:nvPr/>
        </p:nvSpPr>
        <p:spPr>
          <a:xfrm>
            <a:off x="658368" y="489204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6D6E5"/>
                </a:solidFill>
              </a:rPr>
              <a:t>A digital communication link that detects corrupted data using redundant check bits and receiver-side validation.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" y="5605272"/>
            <a:ext cx="1874520" cy="274320"/>
          </a:xfrm>
          <a:prstGeom prst="roundRect">
            <a:avLst>
              <a:gd name="adj" fmla="val 40000"/>
            </a:avLst>
          </a:prstGeom>
          <a:solidFill>
            <a:srgbClr val="143652"/>
          </a:solidFill>
          <a:ln w="12700">
            <a:solidFill>
              <a:srgbClr val="1436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655564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A7B5"/>
                </a:solidFill>
              </a:rPr>
              <a:t>EDITABLE STUDENT DETAILS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97480" y="5541264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DE9F4"/>
                </a:solidFill>
              </a:rPr>
              <a:t>[Student Name • Roll No.]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9F4"/>
                </a:solidFill>
              </a:rPr>
              <a:t>[Guide Name]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9F4"/>
                </a:solidFill>
              </a:rPr>
              <a:t>[Department • College]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9F4"/>
                </a:solidFill>
              </a:rPr>
              <a:t>Academic Year 2026–27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0" y="1828800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0F2B47"/>
          </a:solidFill>
          <a:ln w="15240">
            <a:solidFill>
              <a:srgbClr val="2D59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198424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</a:rPr>
              <a:t>DATA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390888" y="2359152"/>
            <a:ext cx="0" cy="310896"/>
          </a:xfrm>
          <a:prstGeom prst="line">
            <a:avLst/>
          </a:prstGeom>
          <a:noFill/>
          <a:ln w="22860">
            <a:solidFill>
              <a:srgbClr val="18A7B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229600" y="2706624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0F2B47"/>
          </a:solidFill>
          <a:ln w="15240">
            <a:solidFill>
              <a:srgbClr val="2D59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28620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</a:rPr>
              <a:t>ENCODE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390888" y="3236976"/>
            <a:ext cx="0" cy="310896"/>
          </a:xfrm>
          <a:prstGeom prst="line">
            <a:avLst/>
          </a:prstGeom>
          <a:noFill/>
          <a:ln w="22860">
            <a:solidFill>
              <a:srgbClr val="18A7B5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229600" y="3584448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173D5E"/>
          </a:solidFill>
          <a:ln w="15240">
            <a:solidFill>
              <a:srgbClr val="F08A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373989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08A24"/>
                </a:solidFill>
              </a:rPr>
              <a:t>CHANNEL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390888" y="4114800"/>
            <a:ext cx="0" cy="310896"/>
          </a:xfrm>
          <a:prstGeom prst="line">
            <a:avLst/>
          </a:prstGeom>
          <a:noFill/>
          <a:ln w="22860">
            <a:solidFill>
              <a:srgbClr val="18A7B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229600" y="4462272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0F2B47"/>
          </a:solidFill>
          <a:ln w="15240">
            <a:solidFill>
              <a:srgbClr val="2D59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46177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</a:rPr>
              <a:t>CHECK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522208" y="5513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10" kern="0" dirty="0">
                <a:solidFill>
                  <a:srgbClr val="18A7B5"/>
                </a:solidFill>
              </a:rPr>
              <a:t>01 10 111 001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18A7B5"/>
                </a:solidFill>
              </a:rPr>
              <a:t>01 • INTRODUCTION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B33"/>
                </a:solidFill>
              </a:rPr>
              <a:t>Why error detection matters in digital transmission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1115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48A"/>
                </a:solidFill>
              </a:rPr>
              <a:t>Bits can be flipped by noise, interference or timing issues. The receiver needs a fast, deterministic way to decide: “accept or reject?”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627632"/>
            <a:ext cx="3703320" cy="4315968"/>
          </a:xfrm>
          <a:prstGeom prst="roundRect">
            <a:avLst>
              <a:gd name="adj" fmla="val 1975"/>
            </a:avLst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8A7B5"/>
                </a:solidFill>
              </a:rPr>
              <a:t>THE CORE IDEA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359152"/>
            <a:ext cx="2926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Add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structured redundancy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→ send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→ verify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→ flag errors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914400" y="5138928"/>
            <a:ext cx="1143000" cy="256032"/>
          </a:xfrm>
          <a:prstGeom prst="roundRect">
            <a:avLst>
              <a:gd name="adj" fmla="val 35714"/>
            </a:avLst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184648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TRANSMITTER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40280" y="5138928"/>
            <a:ext cx="1143000" cy="256032"/>
          </a:xfrm>
          <a:prstGeom prst="roundRect">
            <a:avLst>
              <a:gd name="adj" fmla="val 35714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5184648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RECEIVER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56432" y="5138928"/>
            <a:ext cx="1143000" cy="256032"/>
          </a:xfrm>
          <a:prstGeom prst="roundRect">
            <a:avLst>
              <a:gd name="adj" fmla="val 35714"/>
            </a:avLst>
          </a:prstGeom>
          <a:solidFill>
            <a:srgbClr val="2C8C68"/>
          </a:solidFill>
          <a:ln w="12700">
            <a:solidFill>
              <a:srgbClr val="2C8C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5184648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DECISION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17720" y="1691640"/>
            <a:ext cx="687628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691640"/>
            <a:ext cx="73152" cy="1024128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F08A24"/>
                </a:solidFill>
              </a:rPr>
              <a:t>DATA IS FRAGILE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19472" y="212140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83A"/>
                </a:solidFill>
              </a:rPr>
              <a:t>A single altered bit can change a command, character, address or measurement.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008376"/>
            <a:ext cx="687628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3008376"/>
            <a:ext cx="73152" cy="1024128"/>
          </a:xfrm>
          <a:prstGeom prst="rect">
            <a:avLst/>
          </a:prstGeom>
          <a:solidFill>
            <a:srgbClr val="18A7B5"/>
          </a:solidFill>
          <a:ln w="12700">
            <a:solidFill>
              <a:srgbClr val="18A7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1729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18A7B5"/>
                </a:solidFill>
              </a:rPr>
              <a:t>REDUNDANCY HELPS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19472" y="3438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83A"/>
                </a:solidFill>
              </a:rPr>
              <a:t>Parity, checksums and CRCs append information that reveals inconsistencies.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4325112"/>
            <a:ext cx="687628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4325112"/>
            <a:ext cx="73152" cy="1024128"/>
          </a:xfrm>
          <a:prstGeom prst="rect">
            <a:avLst/>
          </a:prstGeom>
          <a:solidFill>
            <a:srgbClr val="2C8C68"/>
          </a:solidFill>
          <a:ln w="12700">
            <a:solidFill>
              <a:srgbClr val="2C8C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44897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C8C68"/>
                </a:solidFill>
              </a:rPr>
              <a:t>SIMULATION MAKES IT VISIBLE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19472" y="475488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83A"/>
                </a:solidFill>
              </a:rPr>
              <a:t>A Logisim model turns the algorithm into gates, wires, registers and testable outputs.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45152" y="5605272"/>
            <a:ext cx="2066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5733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8A7B5"/>
                </a:solidFill>
              </a:rPr>
              <a:t>DETECT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4809744" y="611733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62748A"/>
                </a:solidFill>
              </a:rPr>
              <a:t>DESIGN TARGET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30568" y="5605272"/>
            <a:ext cx="2066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5733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08A24"/>
                </a:solidFill>
              </a:rPr>
              <a:t>LOGISIM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6995160" y="611733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62748A"/>
                </a:solidFill>
              </a:rPr>
              <a:t>IMPLEMENTATION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015984" y="5605272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0576" y="573328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C8C68"/>
                </a:solidFill>
              </a:rPr>
              <a:t>VALID / ERROR</a:t>
            </a:r>
            <a:endParaRPr lang="en-US" sz="2300" dirty="0"/>
          </a:p>
        </p:txBody>
      </p:sp>
      <p:sp>
        <p:nvSpPr>
          <p:cNvPr id="34" name="Text 32"/>
          <p:cNvSpPr/>
          <p:nvPr/>
        </p:nvSpPr>
        <p:spPr>
          <a:xfrm>
            <a:off x="9180576" y="611733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62748A"/>
                </a:solidFill>
              </a:rPr>
              <a:t>OUTPUT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3108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8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18A7B5"/>
                </a:solidFill>
              </a:rPr>
              <a:t>02 • PROBLEM STATEMENT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B33"/>
                </a:solidFill>
              </a:rPr>
              <a:t>The problem: transmission can silently corrupt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1115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48A"/>
                </a:solidFill>
              </a:rPr>
              <a:t>The system should make corruption observable without needing to “know” the original message at the receiver.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673352"/>
            <a:ext cx="68580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38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D64550"/>
                </a:solidFill>
              </a:rPr>
              <a:t>UNPROTECTED LINK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411480" cy="475488"/>
          </a:xfrm>
          <a:prstGeom prst="roundRect">
            <a:avLst>
              <a:gd name="adj" fmla="val 11111"/>
            </a:avLst>
          </a:prstGeom>
          <a:solidFill>
            <a:srgbClr val="EDF2F7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432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B33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08760" y="2606040"/>
            <a:ext cx="411480" cy="475488"/>
          </a:xfrm>
          <a:prstGeom prst="roundRect">
            <a:avLst>
              <a:gd name="adj" fmla="val 11111"/>
            </a:avLst>
          </a:prstGeom>
          <a:solidFill>
            <a:srgbClr val="EDF2F7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7432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B33"/>
                </a:solidFill>
              </a:rPr>
              <a:t>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03120" y="2606040"/>
            <a:ext cx="411480" cy="475488"/>
          </a:xfrm>
          <a:prstGeom prst="roundRect">
            <a:avLst>
              <a:gd name="adj" fmla="val 11111"/>
            </a:avLst>
          </a:prstGeom>
          <a:solidFill>
            <a:srgbClr val="EDF2F7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27432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B33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97480" y="2606040"/>
            <a:ext cx="411480" cy="475488"/>
          </a:xfrm>
          <a:prstGeom prst="roundRect">
            <a:avLst>
              <a:gd name="adj" fmla="val 11111"/>
            </a:avLst>
          </a:prstGeom>
          <a:solidFill>
            <a:srgbClr val="EDF2F7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27432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B33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2606040"/>
            <a:ext cx="411480" cy="475488"/>
          </a:xfrm>
          <a:prstGeom prst="roundRect">
            <a:avLst>
              <a:gd name="adj" fmla="val 11111"/>
            </a:avLst>
          </a:prstGeom>
          <a:solidFill>
            <a:srgbClr val="EDF2F7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7432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B33"/>
                </a:solidFill>
              </a:rPr>
              <a:t>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86200" y="2606040"/>
            <a:ext cx="411480" cy="475488"/>
          </a:xfrm>
          <a:prstGeom prst="roundRect">
            <a:avLst>
              <a:gd name="adj" fmla="val 11111"/>
            </a:avLst>
          </a:prstGeom>
          <a:solidFill>
            <a:srgbClr val="FFE4E7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27432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50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80560" y="2606040"/>
            <a:ext cx="411480" cy="475488"/>
          </a:xfrm>
          <a:prstGeom prst="roundRect">
            <a:avLst>
              <a:gd name="adj" fmla="val 11111"/>
            </a:avLst>
          </a:prstGeom>
          <a:solidFill>
            <a:srgbClr val="EDF2F7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7432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B33"/>
                </a:solidFill>
              </a:rPr>
              <a:t>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74920" y="2606040"/>
            <a:ext cx="411480" cy="475488"/>
          </a:xfrm>
          <a:prstGeom prst="roundRect">
            <a:avLst>
              <a:gd name="adj" fmla="val 11111"/>
            </a:avLst>
          </a:prstGeom>
          <a:solidFill>
            <a:srgbClr val="EDF2F7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7432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B33"/>
                </a:solidFill>
              </a:rPr>
              <a:t>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22951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2748A"/>
                </a:solidFill>
              </a:rPr>
              <a:t>TX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965960" y="2852928"/>
            <a:ext cx="2286000" cy="0"/>
          </a:xfrm>
          <a:prstGeom prst="line">
            <a:avLst/>
          </a:prstGeom>
          <a:noFill/>
          <a:ln w="22860">
            <a:solidFill>
              <a:srgbClr val="62748A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26280" y="2578608"/>
            <a:ext cx="1143000" cy="566928"/>
          </a:xfrm>
          <a:prstGeom prst="roundRect">
            <a:avLst>
              <a:gd name="adj" fmla="val 9677"/>
            </a:avLst>
          </a:prstGeom>
          <a:solidFill>
            <a:srgbClr val="FFE4E7"/>
          </a:solidFill>
          <a:ln w="15240">
            <a:solidFill>
              <a:srgbClr val="D645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270662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4550"/>
                </a:solidFill>
              </a:rPr>
              <a:t>NOISE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64550"/>
                </a:solidFill>
              </a:rPr>
              <a:t>/ INTERFERENCE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715000" y="2852928"/>
            <a:ext cx="850392" cy="0"/>
          </a:xfrm>
          <a:prstGeom prst="line">
            <a:avLst/>
          </a:prstGeom>
          <a:noFill/>
          <a:ln w="22860">
            <a:solidFill>
              <a:srgbClr val="62748A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840480" y="34015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70" kern="0" dirty="0">
                <a:solidFill>
                  <a:srgbClr val="D64550"/>
                </a:solidFill>
              </a:rPr>
              <a:t>1 0 1 1 0 0 0 0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406908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283A"/>
                </a:solidFill>
              </a:rPr>
              <a:t>The receiver may accept corrupted data if there is no integrity check.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" y="4782312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FFE4E7"/>
          </a:solidFill>
          <a:ln w="12700">
            <a:solidFill>
              <a:srgbClr val="FFE4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832604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4550"/>
                </a:solidFill>
              </a:rPr>
              <a:t>LIMITATION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057400" y="47823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748A"/>
                </a:solidFill>
              </a:rPr>
              <a:t>No confidence signal • No explicit error flag • Difficult to demonstrate fault behavior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708392" y="1691640"/>
            <a:ext cx="3803904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73568" y="1865376"/>
            <a:ext cx="384048" cy="274320"/>
          </a:xfrm>
          <a:prstGeom prst="roundRect">
            <a:avLst>
              <a:gd name="adj" fmla="val 40000"/>
            </a:avLst>
          </a:prstGeom>
          <a:solidFill>
            <a:srgbClr val="DFF6F8"/>
          </a:solidFill>
          <a:ln w="12700">
            <a:solidFill>
              <a:srgbClr val="DFF6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73568" y="191566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A7B5"/>
                </a:solidFill>
              </a:rPr>
              <a:t>01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49640" y="18470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B33"/>
                </a:solidFill>
              </a:rPr>
              <a:t>Detect corruption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49640" y="21305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748A"/>
                </a:solidFill>
              </a:rPr>
              <a:t>Know whether received bits violate the designed check rule.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08392" y="3017520"/>
            <a:ext cx="3803904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73568" y="3191256"/>
            <a:ext cx="384048" cy="274320"/>
          </a:xfrm>
          <a:prstGeom prst="roundRect">
            <a:avLst>
              <a:gd name="adj" fmla="val 40000"/>
            </a:avLst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73568" y="324154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8A24"/>
                </a:solidFill>
              </a:rPr>
              <a:t>02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549640" y="31729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B33"/>
                </a:solidFill>
              </a:rPr>
              <a:t>Localize the decision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49640" y="34564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748A"/>
                </a:solidFill>
              </a:rPr>
              <a:t>Produce a clean VALID / ERROR output for the receiver.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708392" y="4343400"/>
            <a:ext cx="3803904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73568" y="4517136"/>
            <a:ext cx="384048" cy="274320"/>
          </a:xfrm>
          <a:prstGeom prst="roundRect">
            <a:avLst>
              <a:gd name="adj" fmla="val 40000"/>
            </a:avLst>
          </a:prstGeom>
          <a:solidFill>
            <a:srgbClr val="E1F4EC"/>
          </a:solidFill>
          <a:ln w="12700">
            <a:solidFill>
              <a:srgbClr val="E1F4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73568" y="456742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8C68"/>
                </a:solidFill>
              </a:rPr>
              <a:t>03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549640" y="44988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B33"/>
                </a:solidFill>
              </a:rPr>
              <a:t>Prove it in simulation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49640" y="47823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748A"/>
                </a:solidFill>
              </a:rPr>
              <a:t>Inject an error and show the logic responds predictably.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3108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8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18A7B5"/>
                </a:solidFill>
              </a:rPr>
              <a:t>03 • OBJECTIVES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B33"/>
                </a:solidFill>
              </a:rPr>
              <a:t>What the project is designed to achieve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1115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48A"/>
                </a:solidFill>
              </a:rPr>
              <a:t>Turn a textbook error-detection method into a visible, testable digital system in Logisim.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25780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11096"/>
            <a:ext cx="941832" cy="411480"/>
          </a:xfrm>
          <a:prstGeom prst="roundRect">
            <a:avLst>
              <a:gd name="adj" fmla="val 17778"/>
            </a:avLst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39112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DESIGN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075688" y="189280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B33"/>
                </a:solidFill>
              </a:rPr>
              <a:t>Build a transmitter → channel → receiver chain with a defined redundancy rule.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287121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2748A"/>
                </a:solidFill>
              </a:rPr>
              <a:t>SYSTEM DESIGN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291072" y="1664208"/>
            <a:ext cx="525780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9672" y="1911096"/>
            <a:ext cx="941832" cy="411480"/>
          </a:xfrm>
          <a:prstGeom prst="roundRect">
            <a:avLst>
              <a:gd name="adj" fmla="val 17778"/>
            </a:avLst>
          </a:prstGeom>
          <a:solidFill>
            <a:srgbClr val="18A7B5"/>
          </a:solidFill>
          <a:ln w="12700">
            <a:solidFill>
              <a:srgbClr val="18A7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039112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DETECT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08392" y="189280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B33"/>
                </a:solidFill>
              </a:rPr>
              <a:t>Identify whether the received word is consistent with the transmitted format.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9672" y="287121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2748A"/>
                </a:solidFill>
              </a:rPr>
              <a:t>SYSTEM DESIGN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" y="3621024"/>
            <a:ext cx="525780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" y="3867912"/>
            <a:ext cx="941832" cy="411480"/>
          </a:xfrm>
          <a:prstGeom prst="roundRect">
            <a:avLst>
              <a:gd name="adj" fmla="val 17778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995928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SIMULATE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075688" y="3849624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B33"/>
                </a:solidFill>
              </a:rPr>
              <a:t>Implement the logic using gates, registers, multiplexers and indicators in Logisim.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6968" y="482803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2748A"/>
                </a:solidFill>
              </a:rPr>
              <a:t>SIMULATION DEMONSTRATION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91072" y="3621024"/>
            <a:ext cx="525780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3867912"/>
            <a:ext cx="941832" cy="411480"/>
          </a:xfrm>
          <a:prstGeom prst="roundRect">
            <a:avLst>
              <a:gd name="adj" fmla="val 17778"/>
            </a:avLst>
          </a:prstGeom>
          <a:solidFill>
            <a:srgbClr val="2C8C68"/>
          </a:solidFill>
          <a:ln w="12700">
            <a:solidFill>
              <a:srgbClr val="2C8C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3995928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DEMONSTRATE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708392" y="3849624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B33"/>
                </a:solidFill>
              </a:rPr>
              <a:t>Inject controlled bit errors and observe the resulting ERROR flag.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19672" y="482803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2748A"/>
                </a:solidFill>
              </a:rPr>
              <a:t>SIMULATION DEMONSTRATION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58368" y="562356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97296"/>
            <a:ext cx="10561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Success condition  →  a controlled error produces a deterministic, visible ERROR indication at the receiver.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3108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8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18A7B5"/>
                </a:solidFill>
              </a:rPr>
              <a:t>04 • LITERATURE SURVEY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B33"/>
                </a:solidFill>
              </a:rPr>
              <a:t>Existing error-detection approaches — and where this project fits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1115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48A"/>
                </a:solidFill>
              </a:rPr>
              <a:t>The project emphasizes explainability: the algorithm should be easy to trace from bits → logic → receiver decision.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1828800" cy="384048"/>
          </a:xfrm>
          <a:prstGeom prst="rect">
            <a:avLst/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9222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90" kern="0" dirty="0">
                <a:solidFill>
                  <a:srgbClr val="FFFFFF"/>
                </a:solidFill>
              </a:rPr>
              <a:t>METHOD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0" y="1664208"/>
            <a:ext cx="2743200" cy="384048"/>
          </a:xfrm>
          <a:prstGeom prst="rect">
            <a:avLst/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79222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90" kern="0" dirty="0">
                <a:solidFill>
                  <a:srgbClr val="FFFFFF"/>
                </a:solidFill>
              </a:rPr>
              <a:t>CORE IDEA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0" y="1664208"/>
            <a:ext cx="2606040" cy="384048"/>
          </a:xfrm>
          <a:prstGeom prst="rect">
            <a:avLst/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792224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90" kern="0" dirty="0">
                <a:solidFill>
                  <a:srgbClr val="FFFFFF"/>
                </a:solidFill>
              </a:rPr>
              <a:t>STRENGTH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229600" y="1664208"/>
            <a:ext cx="3291840" cy="384048"/>
          </a:xfrm>
          <a:prstGeom prst="rect">
            <a:avLst/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792224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90" kern="0" dirty="0">
                <a:solidFill>
                  <a:srgbClr val="FFFFFF"/>
                </a:solidFill>
              </a:rPr>
              <a:t>LIMITATION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2048256"/>
            <a:ext cx="182880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2048256"/>
            <a:ext cx="274320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2048256"/>
            <a:ext cx="260604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048256"/>
            <a:ext cx="329184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27685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B33"/>
                </a:solidFill>
              </a:rPr>
              <a:t>Parity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88336" y="219456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83A"/>
                </a:solidFill>
              </a:rPr>
              <a:t>Add 1 bit so the number of 1s follows a rule.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14416" y="2194560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83A"/>
                </a:solidFill>
              </a:rPr>
              <a:t>Very simple; low hardware cost.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57616" y="2194560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83A"/>
                </a:solidFill>
              </a:rPr>
              <a:t>Limited detection capability.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2944368"/>
            <a:ext cx="182880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2944368"/>
            <a:ext cx="274320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2944368"/>
            <a:ext cx="260604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2944368"/>
            <a:ext cx="329184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17296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B33"/>
                </a:solidFill>
              </a:rPr>
              <a:t>Checksum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88336" y="3090672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83A"/>
                </a:solidFill>
              </a:rPr>
              <a:t>Aggregate data into a compact check value.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14416" y="3090672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83A"/>
                </a:solidFill>
              </a:rPr>
              <a:t>Good for blocks of data.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57616" y="3090672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83A"/>
                </a:solidFill>
              </a:rPr>
              <a:t>More arithmetic hardware.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3840480"/>
            <a:ext cx="182880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0" y="3840480"/>
            <a:ext cx="274320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3840480"/>
            <a:ext cx="260604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3840480"/>
            <a:ext cx="329184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06908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B33"/>
                </a:solidFill>
              </a:rPr>
              <a:t>CRC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88336" y="398678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83A"/>
                </a:solidFill>
              </a:rPr>
              <a:t>Polynomial-based redundancy; receiver checks the remainder.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14416" y="3986784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83A"/>
                </a:solidFill>
              </a:rPr>
              <a:t>Strong detection for structured bit errors.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57616" y="3986784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83A"/>
                </a:solidFill>
              </a:rPr>
              <a:t>Needs divider / LFSR-style logic.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" y="4736592"/>
            <a:ext cx="1828800" cy="896112"/>
          </a:xfrm>
          <a:prstGeom prst="rect">
            <a:avLst/>
          </a:prstGeom>
          <a:solidFill>
            <a:srgbClr val="E7F6F3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0" y="4736592"/>
            <a:ext cx="2743200" cy="896112"/>
          </a:xfrm>
          <a:prstGeom prst="rect">
            <a:avLst/>
          </a:prstGeom>
          <a:solidFill>
            <a:srgbClr val="E7F6F3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0" y="4736592"/>
            <a:ext cx="2606040" cy="896112"/>
          </a:xfrm>
          <a:prstGeom prst="rect">
            <a:avLst/>
          </a:prstGeom>
          <a:solidFill>
            <a:srgbClr val="E7F6F3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4736592"/>
            <a:ext cx="3291840" cy="896112"/>
          </a:xfrm>
          <a:prstGeom prst="rect">
            <a:avLst/>
          </a:prstGeom>
          <a:solidFill>
            <a:srgbClr val="E7F6F3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" y="4965192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8C68"/>
                </a:solidFill>
              </a:rPr>
              <a:t>This project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688336" y="488289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83A"/>
                </a:solidFill>
              </a:rPr>
              <a:t>CRC-style receiver decision in Logisim.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14416" y="4882896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83A"/>
                </a:solidFill>
              </a:rPr>
              <a:t>Transparent, visual, testable.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357616" y="4882896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83A"/>
                </a:solidFill>
              </a:rPr>
              <a:t>Simulation is not a full physical link.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0080" y="5779008"/>
            <a:ext cx="10972800" cy="438912"/>
          </a:xfrm>
          <a:prstGeom prst="roundRect">
            <a:avLst>
              <a:gd name="adj" fmla="val 16667"/>
            </a:avLst>
          </a:prstGeom>
          <a:solidFill>
            <a:srgbClr val="FFF0DE"/>
          </a:solidFill>
          <a:ln w="12700">
            <a:solidFill>
              <a:srgbClr val="F6C99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5916168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8A4D0B"/>
                </a:solidFill>
              </a:rPr>
              <a:t>Design choice → use a small CRC-style check because it maps cleanly to XOR + shift-register logic and produces an intuitive “remainder = 0” receiver test.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3108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8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18A7B5"/>
                </a:solidFill>
              </a:rPr>
              <a:t>05 • PROPOSED SYSTEM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B33"/>
                </a:solidFill>
              </a:rPr>
              <a:t>Proposed architecture: transmit, perturb, verify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1115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48A"/>
                </a:solidFill>
              </a:rPr>
              <a:t>The design separates the communication path from the integrity decision so each block can be tested independently.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2267712"/>
            <a:ext cx="1627632" cy="1115568"/>
          </a:xfrm>
          <a:prstGeom prst="roundRect">
            <a:avLst>
              <a:gd name="adj" fmla="val 6557"/>
            </a:avLst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4963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" y="303580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Plain bit stream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40280" y="2816352"/>
            <a:ext cx="411480" cy="0"/>
          </a:xfrm>
          <a:prstGeom prst="line">
            <a:avLst/>
          </a:prstGeom>
          <a:noFill/>
          <a:ln w="26670">
            <a:solidFill>
              <a:srgbClr val="071B3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06040" y="2267712"/>
            <a:ext cx="1627632" cy="1115568"/>
          </a:xfrm>
          <a:prstGeom prst="roundRect">
            <a:avLst>
              <a:gd name="adj" fmla="val 6557"/>
            </a:avLst>
          </a:prstGeom>
          <a:solidFill>
            <a:srgbClr val="18A7B5"/>
          </a:solidFill>
          <a:ln w="12700">
            <a:solidFill>
              <a:srgbClr val="18A7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24963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ENCODER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79192" y="303580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Generate check bits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251960" y="2816352"/>
            <a:ext cx="411480" cy="0"/>
          </a:xfrm>
          <a:prstGeom prst="line">
            <a:avLst/>
          </a:prstGeom>
          <a:noFill/>
          <a:ln w="26670">
            <a:solidFill>
              <a:srgbClr val="071B3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09160" y="2267712"/>
            <a:ext cx="1627632" cy="1115568"/>
          </a:xfrm>
          <a:prstGeom prst="roundRect">
            <a:avLst>
              <a:gd name="adj" fmla="val 6557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24963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CHANNEL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82312" y="303580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Optional bit flip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355080" y="2816352"/>
            <a:ext cx="411480" cy="0"/>
          </a:xfrm>
          <a:prstGeom prst="line">
            <a:avLst/>
          </a:prstGeom>
          <a:noFill/>
          <a:ln w="26670">
            <a:solidFill>
              <a:srgbClr val="071B3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12280" y="2267712"/>
            <a:ext cx="1627632" cy="1115568"/>
          </a:xfrm>
          <a:prstGeom prst="roundRect">
            <a:avLst>
              <a:gd name="adj" fmla="val 6557"/>
            </a:avLst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5432" y="24963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CHECKER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85432" y="303580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Recompute / compare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458200" y="2816352"/>
            <a:ext cx="411480" cy="0"/>
          </a:xfrm>
          <a:prstGeom prst="line">
            <a:avLst/>
          </a:prstGeom>
          <a:noFill/>
          <a:ln w="26670">
            <a:solidFill>
              <a:srgbClr val="071B3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15400" y="2267712"/>
            <a:ext cx="1627632" cy="1115568"/>
          </a:xfrm>
          <a:prstGeom prst="roundRect">
            <a:avLst>
              <a:gd name="adj" fmla="val 6557"/>
            </a:avLst>
          </a:prstGeom>
          <a:solidFill>
            <a:srgbClr val="2C8C68"/>
          </a:solidFill>
          <a:ln w="12700">
            <a:solidFill>
              <a:srgbClr val="2C8C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88552" y="24963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88552" y="303580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VALID / ERROR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73168" y="3858768"/>
            <a:ext cx="148132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4059936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50"/>
                </a:solidFill>
              </a:rPr>
              <a:t>ERROR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64550"/>
                </a:solidFill>
              </a:rPr>
              <a:t>INJECT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28616" y="4498848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748A"/>
                </a:solidFill>
              </a:rPr>
              <a:t>flip 1 bit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13832" y="3831336"/>
            <a:ext cx="0" cy="-429768"/>
          </a:xfrm>
          <a:prstGeom prst="line">
            <a:avLst/>
          </a:prstGeom>
          <a:noFill/>
          <a:ln w="21590">
            <a:solidFill>
              <a:srgbClr val="D6455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5800" y="52120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37667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71B33"/>
                </a:solidFill>
              </a:rPr>
              <a:t>XOR NETWORK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2960" y="565099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48A"/>
                </a:solidFill>
              </a:rPr>
              <a:t>Generate/check parity relation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74720" y="52120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537667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71B33"/>
                </a:solidFill>
              </a:rPr>
              <a:t>SHIFT REGISTER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11880" y="565099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48A"/>
                </a:solidFill>
              </a:rPr>
              <a:t>Hold / shift incoming bits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63640" y="52120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537667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71B33"/>
                </a:solidFill>
              </a:rPr>
              <a:t>COMPARATOR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00800" y="565099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48A"/>
                </a:solidFill>
              </a:rPr>
              <a:t>Convert mismatch to flag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052560" y="52120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E1F4EC"/>
          </a:solidFill>
          <a:ln w="12700">
            <a:solidFill>
              <a:srgbClr val="B8DE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9720" y="537667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2C8C68"/>
                </a:solidFill>
              </a:rPr>
              <a:t>LED / PROBE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189720" y="565099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48A"/>
                </a:solidFill>
              </a:rPr>
              <a:t>Make result visible in Logisim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3108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8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18A7B5"/>
                </a:solidFill>
              </a:rPr>
              <a:t>06 • METHODOLOGY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B33"/>
                </a:solidFill>
              </a:rPr>
              <a:t>Implementation workflow: from algorithm to gates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1115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48A"/>
                </a:solidFill>
              </a:rPr>
              <a:t>A compact CRC-style example is used for the demonstration; the exact polynomial/data width can be changed in the circuit.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1709928"/>
            <a:ext cx="347472" cy="347472"/>
          </a:xfrm>
          <a:prstGeom prst="ellipse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10512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86968" y="2048256"/>
            <a:ext cx="0" cy="411480"/>
          </a:xfrm>
          <a:prstGeom prst="line">
            <a:avLst/>
          </a:prstGeom>
          <a:noFill/>
          <a:ln w="19050">
            <a:solidFill>
              <a:srgbClr val="D7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69164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71B33"/>
                </a:solidFill>
              </a:rPr>
              <a:t>CHOOSE RULE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62072" y="1664208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748A"/>
                </a:solidFill>
              </a:rPr>
              <a:t>Select a generator polynomial / redundancy rule.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3232" y="2505456"/>
            <a:ext cx="347472" cy="347472"/>
          </a:xfrm>
          <a:prstGeom prst="ellipse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60604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86968" y="2843784"/>
            <a:ext cx="0" cy="411480"/>
          </a:xfrm>
          <a:prstGeom prst="line">
            <a:avLst/>
          </a:prstGeom>
          <a:noFill/>
          <a:ln w="19050">
            <a:solidFill>
              <a:srgbClr val="D7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4871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71B33"/>
                </a:solidFill>
              </a:rPr>
              <a:t>APPEND CHECK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62072" y="2459736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748A"/>
                </a:solidFill>
              </a:rPr>
              <a:t>Form the protected codeword from payload + check bits.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3232" y="3300984"/>
            <a:ext cx="347472" cy="347472"/>
          </a:xfrm>
          <a:prstGeom prst="ellipse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0156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6968" y="3639312"/>
            <a:ext cx="0" cy="411480"/>
          </a:xfrm>
          <a:prstGeom prst="line">
            <a:avLst/>
          </a:prstGeom>
          <a:noFill/>
          <a:ln w="1905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328269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71B33"/>
                </a:solidFill>
              </a:rPr>
              <a:t>TRANSMIT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62072" y="3255264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748A"/>
                </a:solidFill>
              </a:rPr>
              <a:t>Send the codeword through the simulated channel.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" y="4096512"/>
            <a:ext cx="347472" cy="347472"/>
          </a:xfrm>
          <a:prstGeom prst="ellipse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19709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86968" y="4434840"/>
            <a:ext cx="0" cy="411480"/>
          </a:xfrm>
          <a:prstGeom prst="line">
            <a:avLst/>
          </a:prstGeom>
          <a:noFill/>
          <a:ln w="19050">
            <a:solidFill>
              <a:srgbClr val="D7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407822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71B33"/>
                </a:solidFill>
              </a:rPr>
              <a:t>RECHECK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62072" y="405079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748A"/>
                </a:solidFill>
              </a:rPr>
              <a:t>Run the receiver check; valid codeword → zero remainder.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3232" y="4892040"/>
            <a:ext cx="347472" cy="347472"/>
          </a:xfrm>
          <a:prstGeom prst="ellipse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99262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25880" y="48737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071B33"/>
                </a:solidFill>
              </a:rPr>
              <a:t>FLAG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62072" y="484632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2748A"/>
                </a:solidFill>
              </a:rPr>
              <a:t>Non-zero remainder → ERROR indicator.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12280" y="1664208"/>
            <a:ext cx="4736592" cy="4343400"/>
          </a:xfrm>
          <a:prstGeom prst="roundRect">
            <a:avLst>
              <a:gd name="adj" fmla="val 1684"/>
            </a:avLst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19385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8A7B5"/>
                </a:solidFill>
              </a:rPr>
              <a:t>REPRESENTATIVE CRC STEP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50608" y="2331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Generator:  x³ + x + 1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150608" y="272491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E5"/>
                </a:solidFill>
              </a:rPr>
              <a:t>Binary form: 1011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78040" y="32461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73D5E"/>
          </a:solidFill>
          <a:ln w="10160">
            <a:solidFill>
              <a:srgbClr val="3765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33284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607808" y="32461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73D5E"/>
          </a:solidFill>
          <a:ln w="10160">
            <a:solidFill>
              <a:srgbClr val="3765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07808" y="33284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037576" y="32461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73D5E"/>
          </a:solidFill>
          <a:ln w="10160">
            <a:solidFill>
              <a:srgbClr val="3765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37576" y="33284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467344" y="32461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73D5E"/>
          </a:solidFill>
          <a:ln w="10160">
            <a:solidFill>
              <a:srgbClr val="3765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67344" y="33284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897112" y="32461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34966"/>
          </a:solidFill>
          <a:ln w="10160">
            <a:solidFill>
              <a:srgbClr val="3765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97112" y="33284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326880" y="32461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34966"/>
          </a:solidFill>
          <a:ln w="10160">
            <a:solidFill>
              <a:srgbClr val="3765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0" y="33284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756648" y="32461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34966"/>
          </a:solidFill>
          <a:ln w="10160">
            <a:solidFill>
              <a:srgbClr val="3765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56648" y="33284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030968" y="328269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8A24"/>
                </a:solidFill>
              </a:rPr>
              <a:t>⊕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178040" y="3767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08A24"/>
                </a:solidFill>
              </a:rPr>
              <a:t>shift → XOR → shift → repeat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178040" y="43159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FC2D3"/>
                </a:solidFill>
              </a:rPr>
              <a:t>Receiver rule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178040" y="4599432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remainder = 000  →  VALID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remainder ≠ 000  →  ERROR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178040" y="5449824"/>
            <a:ext cx="1325880" cy="274320"/>
          </a:xfrm>
          <a:prstGeom prst="roundRect">
            <a:avLst>
              <a:gd name="adj" fmla="val 40000"/>
            </a:avLst>
          </a:prstGeom>
          <a:solidFill>
            <a:srgbClr val="173D5E"/>
          </a:solidFill>
          <a:ln w="12700">
            <a:solidFill>
              <a:srgbClr val="173D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78040" y="5500116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A7B5"/>
                </a:solidFill>
              </a:rPr>
              <a:t>LOGISIM PROBES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650224" y="5504688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9D7E5"/>
                </a:solidFill>
              </a:rPr>
              <a:t>data • check bits • error flag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3108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8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18A7B5"/>
                </a:solidFill>
              </a:rPr>
              <a:t>07 • CIRCUIT IMPLEMENTATION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B33"/>
                </a:solidFill>
              </a:rPr>
              <a:t>Logisim implementation: modular, testable, easy to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1115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48A"/>
                </a:solidFill>
              </a:rPr>
              <a:t>The circuit can be organized as reusable subcircuits so the top-level schematic stays readable during evaluation.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406640" cy="4462272"/>
          </a:xfrm>
          <a:prstGeom prst="roundRect">
            <a:avLst>
              <a:gd name="adj" fmla="val 1639"/>
            </a:avLst>
          </a:prstGeom>
          <a:solidFill>
            <a:srgbClr val="FAFCFE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810512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608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TOP-LEVEL CIRCUIT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96112" y="2395728"/>
            <a:ext cx="1417320" cy="1005840"/>
          </a:xfrm>
          <a:prstGeom prst="roundRect">
            <a:avLst>
              <a:gd name="adj" fmla="val 4545"/>
            </a:avLst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615184"/>
            <a:ext cx="1271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REGISTER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9264" y="314553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5FA"/>
                </a:solidFill>
              </a:rPr>
              <a:t>D[7:0]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368296" y="2898648"/>
            <a:ext cx="329184" cy="0"/>
          </a:xfrm>
          <a:prstGeom prst="line">
            <a:avLst/>
          </a:prstGeom>
          <a:noFill/>
          <a:ln w="20320">
            <a:solidFill>
              <a:srgbClr val="071B3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97480" y="2395728"/>
            <a:ext cx="1417320" cy="1005840"/>
          </a:xfrm>
          <a:prstGeom prst="roundRect">
            <a:avLst>
              <a:gd name="adj" fmla="val 4545"/>
            </a:avLst>
          </a:prstGeom>
          <a:solidFill>
            <a:srgbClr val="18A7B5"/>
          </a:solidFill>
          <a:ln w="12700">
            <a:solidFill>
              <a:srgbClr val="18A7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2615184"/>
            <a:ext cx="1271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ENCODER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70632" y="314553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5FA"/>
                </a:solidFill>
              </a:rPr>
              <a:t>XOR + SHIFT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169664" y="2898648"/>
            <a:ext cx="329184" cy="0"/>
          </a:xfrm>
          <a:prstGeom prst="line">
            <a:avLst/>
          </a:prstGeom>
          <a:noFill/>
          <a:ln w="20320">
            <a:solidFill>
              <a:srgbClr val="071B3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98848" y="2395728"/>
            <a:ext cx="1417320" cy="1005840"/>
          </a:xfrm>
          <a:prstGeom prst="roundRect">
            <a:avLst>
              <a:gd name="adj" fmla="val 4545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615184"/>
            <a:ext cx="1271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CHANNEL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14553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5FA"/>
                </a:solidFill>
              </a:rPr>
              <a:t>ERR BIT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71032" y="2898648"/>
            <a:ext cx="329184" cy="0"/>
          </a:xfrm>
          <a:prstGeom prst="line">
            <a:avLst/>
          </a:prstGeom>
          <a:noFill/>
          <a:ln w="20320">
            <a:solidFill>
              <a:srgbClr val="071B3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0216" y="2395728"/>
            <a:ext cx="1417320" cy="1005840"/>
          </a:xfrm>
          <a:prstGeom prst="roundRect">
            <a:avLst>
              <a:gd name="adj" fmla="val 4545"/>
            </a:avLst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2615184"/>
            <a:ext cx="1271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73368" y="314553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5FA"/>
                </a:solidFill>
              </a:rPr>
              <a:t>REMAINDER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004304" y="3419856"/>
            <a:ext cx="0" cy="630936"/>
          </a:xfrm>
          <a:prstGeom prst="line">
            <a:avLst/>
          </a:prstGeom>
          <a:noFill/>
          <a:ln w="19050">
            <a:solidFill>
              <a:srgbClr val="071B3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91072" y="411480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E1F4EC"/>
          </a:solidFill>
          <a:ln w="12700">
            <a:solidFill>
              <a:srgbClr val="B5DC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01384" y="432511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8C68"/>
                </a:solidFill>
              </a:rPr>
              <a:t>LED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64808" y="462686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2748A"/>
                </a:solidFill>
              </a:rPr>
              <a:t>VALID / ERROR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348472" y="1600200"/>
            <a:ext cx="3200400" cy="4462272"/>
          </a:xfrm>
          <a:prstGeom prst="roundRect">
            <a:avLst>
              <a:gd name="adj" fmla="val 2286"/>
            </a:avLst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50224" y="1874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8A7B5"/>
                </a:solidFill>
              </a:rPr>
              <a:t>SUBCIRCUITS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622792" y="2267712"/>
            <a:ext cx="320040" cy="320040"/>
          </a:xfrm>
          <a:prstGeom prst="ellipse">
            <a:avLst/>
          </a:prstGeom>
          <a:solidFill>
            <a:srgbClr val="173D5E"/>
          </a:solidFill>
          <a:ln w="12700">
            <a:solidFill>
              <a:srgbClr val="3765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22792" y="2368296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125712" y="224942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Encoder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25712" y="24963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9CAD9"/>
                </a:solidFill>
              </a:rPr>
              <a:t>generates redundant bits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622792" y="3008376"/>
            <a:ext cx="320040" cy="320040"/>
          </a:xfrm>
          <a:prstGeom prst="ellipse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22792" y="3108960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125712" y="299008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Error Injector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25712" y="32369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9CAD9"/>
                </a:solidFill>
              </a:rPr>
              <a:t>flips a selected bit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622792" y="3749040"/>
            <a:ext cx="320040" cy="320040"/>
          </a:xfrm>
          <a:prstGeom prst="ellipse">
            <a:avLst/>
          </a:prstGeom>
          <a:solidFill>
            <a:srgbClr val="173D5E"/>
          </a:solidFill>
          <a:ln w="12700">
            <a:solidFill>
              <a:srgbClr val="3765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22792" y="3849624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125712" y="37307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25712" y="39776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9CAD9"/>
                </a:solidFill>
              </a:rPr>
              <a:t>recomputes remainder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622792" y="4489704"/>
            <a:ext cx="320040" cy="320040"/>
          </a:xfrm>
          <a:prstGeom prst="ellipse">
            <a:avLst/>
          </a:prstGeom>
          <a:solidFill>
            <a:srgbClr val="173D5E"/>
          </a:solidFill>
          <a:ln w="12700">
            <a:solidFill>
              <a:srgbClr val="3765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22792" y="4590288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125712" y="44714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125712" y="471830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9CAD9"/>
                </a:solidFill>
              </a:rPr>
              <a:t>lights VALID / ERROR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622792" y="5285232"/>
            <a:ext cx="2331720" cy="0"/>
          </a:xfrm>
          <a:prstGeom prst="line">
            <a:avLst/>
          </a:prstGeom>
          <a:noFill/>
          <a:ln w="12700">
            <a:solidFill>
              <a:srgbClr val="3765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22792" y="548640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8A24"/>
                </a:solidFill>
              </a:rPr>
              <a:t>Demo tip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418320" y="54132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Keep one probe on the remainder; it makes the “why” behind ERROR immediately visible.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3108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8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18A7B5"/>
                </a:solidFill>
              </a:rPr>
              <a:t>08 • RESULTS &amp; DISCUSSION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B33"/>
                </a:solidFill>
              </a:rPr>
              <a:t>Test matrix: show the detector doing its job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1115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48A"/>
                </a:solidFill>
              </a:rPr>
              <a:t>Use these cases as the minimum demonstration set in Logisim; replace the placeholders with your actual screenshots/observed waveforms.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673352"/>
            <a:ext cx="960120" cy="402336"/>
          </a:xfrm>
          <a:prstGeom prst="rect">
            <a:avLst/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828800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70" kern="0" dirty="0">
                <a:solidFill>
                  <a:srgbClr val="FFFFFF"/>
                </a:solidFill>
              </a:rPr>
              <a:t>#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1691640" y="1673352"/>
            <a:ext cx="2487168" cy="402336"/>
          </a:xfrm>
          <a:prstGeom prst="rect">
            <a:avLst/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46504" y="182880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70" kern="0" dirty="0">
                <a:solidFill>
                  <a:srgbClr val="FFFFFF"/>
                </a:solidFill>
              </a:rPr>
              <a:t>TEST CASE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4343400" y="1673352"/>
            <a:ext cx="2395728" cy="402336"/>
          </a:xfrm>
          <a:prstGeom prst="rect">
            <a:avLst/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8264" y="1828800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70" kern="0" dirty="0">
                <a:solidFill>
                  <a:srgbClr val="FFFFFF"/>
                </a:solidFill>
              </a:rPr>
              <a:t>EXPECTED RECEIVED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6858000" y="1673352"/>
            <a:ext cx="1856232" cy="402336"/>
          </a:xfrm>
          <a:prstGeom prst="rect">
            <a:avLst/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12864" y="1828800"/>
            <a:ext cx="1746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70" kern="0" dirty="0">
                <a:solidFill>
                  <a:srgbClr val="FFFFFF"/>
                </a:solidFill>
              </a:rPr>
              <a:t>FLAG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8823960" y="1673352"/>
            <a:ext cx="2697480" cy="402336"/>
          </a:xfrm>
          <a:prstGeom prst="rect">
            <a:avLst/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78824" y="1828800"/>
            <a:ext cx="2587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70" kern="0" dirty="0">
                <a:solidFill>
                  <a:srgbClr val="FFFFFF"/>
                </a:solidFill>
              </a:rPr>
              <a:t>INTERPRETATION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40080" y="2075688"/>
            <a:ext cx="9601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91640" y="2075688"/>
            <a:ext cx="248716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2075688"/>
            <a:ext cx="239572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2075688"/>
            <a:ext cx="1856232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2075688"/>
            <a:ext cx="269748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30428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2748A"/>
                </a:solidFill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64792" y="222199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71B33"/>
                </a:solidFill>
              </a:rPr>
              <a:t>No error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16552" y="2194560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283A"/>
                </a:solidFill>
              </a:rPr>
              <a:t>Matches transmitted codeword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49440" y="2295144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8C68"/>
                </a:solidFill>
              </a:rPr>
              <a:t>VALID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97112" y="2194560"/>
            <a:ext cx="2551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48A"/>
                </a:solidFill>
              </a:rPr>
              <a:t>Normal transmission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788920"/>
            <a:ext cx="960120" cy="713232"/>
          </a:xfrm>
          <a:prstGeom prst="rect">
            <a:avLst/>
          </a:prstGeom>
          <a:solidFill>
            <a:srgbClr val="FFF7F2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91640" y="2788920"/>
            <a:ext cx="2487168" cy="713232"/>
          </a:xfrm>
          <a:prstGeom prst="rect">
            <a:avLst/>
          </a:prstGeom>
          <a:solidFill>
            <a:srgbClr val="FFF7F2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2788920"/>
            <a:ext cx="2395728" cy="713232"/>
          </a:xfrm>
          <a:prstGeom prst="rect">
            <a:avLst/>
          </a:prstGeom>
          <a:solidFill>
            <a:srgbClr val="FFF7F2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2788920"/>
            <a:ext cx="1856232" cy="713232"/>
          </a:xfrm>
          <a:prstGeom prst="rect">
            <a:avLst/>
          </a:prstGeom>
          <a:solidFill>
            <a:srgbClr val="FFF7F2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2788920"/>
            <a:ext cx="2697480" cy="713232"/>
          </a:xfrm>
          <a:prstGeom prst="rect">
            <a:avLst/>
          </a:prstGeom>
          <a:solidFill>
            <a:srgbClr val="FFF7F2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0175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2748A"/>
                </a:solidFill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64792" y="293522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71B33"/>
                </a:solidFill>
              </a:rPr>
              <a:t>Flip 1 payload bit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16552" y="2907792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283A"/>
                </a:solidFill>
              </a:rPr>
              <a:t>Codeword becomes inconsistent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49440" y="3008376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50"/>
                </a:solidFill>
              </a:rPr>
              <a:t>ERROR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897112" y="2907792"/>
            <a:ext cx="2551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48A"/>
                </a:solidFill>
              </a:rPr>
              <a:t>Single-bit fault detected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3502152"/>
            <a:ext cx="960120" cy="713232"/>
          </a:xfrm>
          <a:prstGeom prst="rect">
            <a:avLst/>
          </a:prstGeom>
          <a:solidFill>
            <a:srgbClr val="FFF7F2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91640" y="3502152"/>
            <a:ext cx="2487168" cy="713232"/>
          </a:xfrm>
          <a:prstGeom prst="rect">
            <a:avLst/>
          </a:prstGeom>
          <a:solidFill>
            <a:srgbClr val="FFF7F2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43400" y="3502152"/>
            <a:ext cx="2395728" cy="713232"/>
          </a:xfrm>
          <a:prstGeom prst="rect">
            <a:avLst/>
          </a:prstGeom>
          <a:solidFill>
            <a:srgbClr val="FFF7F2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0" y="3502152"/>
            <a:ext cx="1856232" cy="713232"/>
          </a:xfrm>
          <a:prstGeom prst="rect">
            <a:avLst/>
          </a:prstGeom>
          <a:solidFill>
            <a:srgbClr val="FFF7F2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23960" y="3502152"/>
            <a:ext cx="2697480" cy="713232"/>
          </a:xfrm>
          <a:prstGeom prst="rect">
            <a:avLst/>
          </a:prstGeom>
          <a:solidFill>
            <a:srgbClr val="FFF7F2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7307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2748A"/>
                </a:solidFill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764792" y="3648456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71B33"/>
                </a:solidFill>
              </a:rPr>
              <a:t>Flip 1 check bit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416552" y="3621024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283A"/>
                </a:solidFill>
              </a:rPr>
              <a:t>Remainder becomes non-zero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49440" y="3721608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50"/>
                </a:solidFill>
              </a:rPr>
              <a:t>ERROR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897112" y="3621024"/>
            <a:ext cx="2551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48A"/>
                </a:solidFill>
              </a:rPr>
              <a:t>Redundancy bit corruption detected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" y="4215384"/>
            <a:ext cx="9601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91640" y="4215384"/>
            <a:ext cx="248716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43400" y="4215384"/>
            <a:ext cx="2395728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4215384"/>
            <a:ext cx="1856232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23960" y="4215384"/>
            <a:ext cx="269748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444398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2748A"/>
                </a:solidFill>
              </a:rPr>
              <a:t>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764792" y="4361688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71B33"/>
                </a:solidFill>
              </a:rPr>
              <a:t>Error injection OFF→ON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416552" y="4334256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283A"/>
                </a:solidFill>
              </a:rPr>
              <a:t>Flag changes only when fault enabled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949440" y="443484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50"/>
                </a:solidFill>
              </a:rPr>
              <a:t>VALID → ERROR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897112" y="4334256"/>
            <a:ext cx="2551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748A"/>
                </a:solidFill>
              </a:rPr>
              <a:t>Demonstrates control logic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0080" y="5148072"/>
            <a:ext cx="6812280" cy="868680"/>
          </a:xfrm>
          <a:prstGeom prst="roundRect">
            <a:avLst>
              <a:gd name="adj" fmla="val 8421"/>
            </a:avLst>
          </a:prstGeom>
          <a:solidFill>
            <a:srgbClr val="0D2036"/>
          </a:solidFill>
          <a:ln w="12700">
            <a:solidFill>
              <a:srgbClr val="0D203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0" y="53218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8A7B5"/>
                </a:solidFill>
              </a:rPr>
              <a:t>LOGISIM RESULT AREA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560320" y="5276088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</a:rPr>
              <a:t>[ INSERT YOUR .CIRC CIRCUIT SCREENSHOT HERE ]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560320" y="5596128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9FB4C7"/>
                </a:solidFill>
              </a:rPr>
              <a:t>Recommended screenshot: top-level circuit + visible probes + ERROR LED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7754112" y="5148072"/>
            <a:ext cx="11704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18704" y="5276088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C8C68"/>
                </a:solidFill>
              </a:rPr>
              <a:t>PASS</a:t>
            </a:r>
            <a:endParaRPr lang="en-US" sz="2300" dirty="0"/>
          </a:p>
        </p:txBody>
      </p:sp>
      <p:sp>
        <p:nvSpPr>
          <p:cNvPr id="61" name="Text 59"/>
          <p:cNvSpPr/>
          <p:nvPr/>
        </p:nvSpPr>
        <p:spPr>
          <a:xfrm>
            <a:off x="7918704" y="566013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62748A"/>
                </a:solidFill>
              </a:rPr>
              <a:t>CASE 01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015984" y="5148072"/>
            <a:ext cx="11704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80576" y="5276088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D64550"/>
                </a:solidFill>
              </a:rPr>
              <a:t>FLAG</a:t>
            </a:r>
            <a:endParaRPr lang="en-US" sz="2300" dirty="0"/>
          </a:p>
        </p:txBody>
      </p:sp>
      <p:sp>
        <p:nvSpPr>
          <p:cNvPr id="64" name="Text 62"/>
          <p:cNvSpPr/>
          <p:nvPr/>
        </p:nvSpPr>
        <p:spPr>
          <a:xfrm>
            <a:off x="9180576" y="566013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62748A"/>
                </a:solidFill>
              </a:rPr>
              <a:t>CASE 02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0277856" y="5148072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442448" y="5276088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D64550"/>
                </a:solidFill>
              </a:rPr>
              <a:t>FLAG</a:t>
            </a:r>
            <a:endParaRPr lang="en-US" sz="2300" dirty="0"/>
          </a:p>
        </p:txBody>
      </p:sp>
      <p:sp>
        <p:nvSpPr>
          <p:cNvPr id="67" name="Text 65"/>
          <p:cNvSpPr/>
          <p:nvPr/>
        </p:nvSpPr>
        <p:spPr>
          <a:xfrm>
            <a:off x="10442448" y="566013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62748A"/>
                </a:solidFill>
              </a:rPr>
              <a:t>CASE 03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3108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8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18A7B5"/>
                </a:solidFill>
              </a:rPr>
              <a:t>09 • CONCLUSION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B33"/>
                </a:solidFill>
              </a:rPr>
              <a:t>From algorithm to observable hardware behavior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1115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48A"/>
                </a:solidFill>
              </a:rPr>
              <a:t>The project connects a digital communication concept to a concrete, demonstrable circuit.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751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“The receiver does not need to trust the channel — it only needs to verify the rule.”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063240"/>
            <a:ext cx="33467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3063240"/>
            <a:ext cx="3346704" cy="73152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33649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61A0"/>
                </a:solidFill>
              </a:rPr>
              <a:t>DESIGNED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9536" y="37216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83A"/>
                </a:solidFill>
              </a:rPr>
              <a:t>A modular transmitter–channel–receiver chain was defined.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3063240"/>
            <a:ext cx="33467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3063240"/>
            <a:ext cx="3346704" cy="73152"/>
          </a:xfrm>
          <a:prstGeom prst="rect">
            <a:avLst/>
          </a:prstGeom>
          <a:solidFill>
            <a:srgbClr val="18A7B5"/>
          </a:solidFill>
          <a:ln w="12700">
            <a:solidFill>
              <a:srgbClr val="18A7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33649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8A7B5"/>
                </a:solidFill>
              </a:rPr>
              <a:t>IMPLEMENTED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90288" y="37216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83A"/>
                </a:solidFill>
              </a:rPr>
              <a:t>CRC-style checking logic was mapped into Logisim components.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19872" y="3063240"/>
            <a:ext cx="33467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3063240"/>
            <a:ext cx="3346704" cy="73152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33649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08A24"/>
                </a:solidFill>
              </a:rPr>
              <a:t>VALIDATED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37216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83A"/>
                </a:solidFill>
              </a:rPr>
              <a:t>Controlled bit flips produce a visible ERROR decision.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5010912"/>
            <a:ext cx="10972800" cy="877824"/>
          </a:xfrm>
          <a:prstGeom prst="roundRect">
            <a:avLst>
              <a:gd name="adj" fmla="val 8333"/>
            </a:avLst>
          </a:prstGeom>
          <a:solidFill>
            <a:srgbClr val="E1F4EC"/>
          </a:solidFill>
          <a:ln w="12700">
            <a:solidFill>
              <a:srgbClr val="B7D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2395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C8C68"/>
                </a:solidFill>
              </a:rPr>
              <a:t>NEXT ITERATION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68880" y="5157216"/>
            <a:ext cx="8732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7634C"/>
                </a:solidFill>
              </a:rPr>
              <a:t>Extend to wider payloads, stronger CRC polynomials, burst-error experiments, and a cleaner waveform/probe view.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3108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8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70" kern="0" dirty="0">
                <a:solidFill>
                  <a:srgbClr val="18A7B5"/>
                </a:solidFill>
              </a:rPr>
              <a:t>10 • SUBMISSION READY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B33"/>
                </a:solidFill>
              </a:rPr>
              <a:t>GitHub project structure &amp; evaluation checklist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" y="1115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48A"/>
                </a:solidFill>
              </a:rPr>
              <a:t>Keep the repository visibly aligned with what you present in the PPT.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673352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938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8A7B5"/>
                </a:solidFill>
              </a:rPr>
              <a:t>REPOSITORY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23591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DDCA-Error-Detection-System/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278892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A7B5"/>
                </a:solidFill>
              </a:rPr>
              <a:t>├──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27889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README.md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01568" y="2788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FC2D3"/>
                </a:solidFill>
              </a:rPr>
              <a:t>project overview + how to run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7552" y="33192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A7B5"/>
                </a:solidFill>
              </a:rPr>
              <a:t>├──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33192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project.pptx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01568" y="33192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FC2D3"/>
                </a:solidFill>
              </a:rPr>
              <a:t>presentation submitted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87552" y="38496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A7B5"/>
                </a:solidFill>
              </a:rPr>
              <a:t>├──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3849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error_detection.circ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01568" y="384962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FC2D3"/>
                </a:solidFill>
              </a:rPr>
              <a:t>Logisim circuit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7552" y="43799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A7B5"/>
                </a:solidFill>
              </a:rPr>
              <a:t>├──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437997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/screenshots/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01568" y="437997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FC2D3"/>
                </a:solidFill>
              </a:rPr>
              <a:t>circuit + result captures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87552" y="49103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A7B5"/>
                </a:solidFill>
              </a:rPr>
              <a:t>└──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3040" y="49103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/docs/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01568" y="49103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FC2D3"/>
                </a:solidFill>
              </a:rPr>
              <a:t>notes / report / references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0120" y="5486400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173D5E"/>
          </a:solidFill>
          <a:ln w="12700">
            <a:solidFill>
              <a:srgbClr val="173D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536692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A7B5"/>
                </a:solidFill>
              </a:rPr>
              <a:t>COMMIT HISTORY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31720" y="550468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5"/>
                </a:solidFill>
              </a:rPr>
              <a:t>Use meaningful commits: design → encoder → checker → test → documentation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46520" y="1673352"/>
            <a:ext cx="5184648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19385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08A24"/>
                </a:solidFill>
              </a:rPr>
              <a:t>FINAL CHECK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48272" y="2432304"/>
            <a:ext cx="228600" cy="228600"/>
          </a:xfrm>
          <a:prstGeom prst="ellipse">
            <a:avLst/>
          </a:prstGeom>
          <a:solidFill>
            <a:srgbClr val="E1F4EC"/>
          </a:solidFill>
          <a:ln w="12700">
            <a:solidFill>
              <a:srgbClr val="B7D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2478024"/>
            <a:ext cx="228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8C68"/>
                </a:solidFill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150608" y="242316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283A"/>
                </a:solidFill>
              </a:rPr>
              <a:t>PPT = 8–12 slides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48272" y="2944368"/>
            <a:ext cx="228600" cy="228600"/>
          </a:xfrm>
          <a:prstGeom prst="ellipse">
            <a:avLst/>
          </a:prstGeom>
          <a:solidFill>
            <a:srgbClr val="E1F4EC"/>
          </a:solidFill>
          <a:ln w="12700">
            <a:solidFill>
              <a:srgbClr val="B7D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48272" y="2990088"/>
            <a:ext cx="228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8C68"/>
                </a:solidFill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150608" y="293522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283A"/>
                </a:solidFill>
              </a:rPr>
              <a:t>.circ file opens and shows actual project progress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48272" y="3456432"/>
            <a:ext cx="228600" cy="228600"/>
          </a:xfrm>
          <a:prstGeom prst="ellipse">
            <a:avLst/>
          </a:prstGeom>
          <a:solidFill>
            <a:srgbClr val="E1F4EC"/>
          </a:solidFill>
          <a:ln w="12700">
            <a:solidFill>
              <a:srgbClr val="B7D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48272" y="3502152"/>
            <a:ext cx="228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8C68"/>
                </a:solidFill>
              </a:rPr>
              <a:t>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150608" y="344728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283A"/>
                </a:solidFill>
              </a:rPr>
              <a:t>Implementation/screenshots match the PPT claims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48272" y="3968496"/>
            <a:ext cx="228600" cy="228600"/>
          </a:xfrm>
          <a:prstGeom prst="ellipse">
            <a:avLst/>
          </a:prstGeom>
          <a:solidFill>
            <a:srgbClr val="E1F4EC"/>
          </a:solidFill>
          <a:ln w="12700">
            <a:solidFill>
              <a:srgbClr val="B7D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48272" y="4014216"/>
            <a:ext cx="228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8C68"/>
                </a:solidFill>
              </a:rPr>
              <a:t>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150608" y="395935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283A"/>
                </a:solidFill>
              </a:rPr>
              <a:t>README explains the project + simulation steps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48272" y="4480560"/>
            <a:ext cx="228600" cy="228600"/>
          </a:xfrm>
          <a:prstGeom prst="ellipse">
            <a:avLst/>
          </a:prstGeom>
          <a:solidFill>
            <a:srgbClr val="E1F4EC"/>
          </a:solidFill>
          <a:ln w="12700">
            <a:solidFill>
              <a:srgbClr val="B7D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48272" y="4526280"/>
            <a:ext cx="228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8C68"/>
                </a:solidFill>
              </a:rPr>
              <a:t>✓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150608" y="447141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283A"/>
                </a:solidFill>
              </a:rPr>
              <a:t>All project work is committed and pushed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48272" y="4992624"/>
            <a:ext cx="228600" cy="228600"/>
          </a:xfrm>
          <a:prstGeom prst="ellipse">
            <a:avLst/>
          </a:prstGeom>
          <a:solidFill>
            <a:srgbClr val="E1F4EC"/>
          </a:solidFill>
          <a:ln w="12700">
            <a:solidFill>
              <a:srgbClr val="B7D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48272" y="5038344"/>
            <a:ext cx="228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8C68"/>
                </a:solidFill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50608" y="498348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283A"/>
                </a:solidFill>
              </a:rPr>
              <a:t>Repository history reflects incremental work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48272" y="555955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62748A"/>
                </a:solidFill>
              </a:rPr>
              <a:t>REFERENCES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7818120" y="5522976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2748A"/>
                </a:solidFill>
              </a:rPr>
              <a:t>Digital Communications • Error Detection / CRC fundamentals • Logisim documentation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3108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8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[College / Institution]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Simulation of Digital Data Transmission Error Detection System</dc:title>
  <dc:subject>DDCA Project – Design and Simulation of Digital Data Transmission Error Detection System</dc:subject>
  <dc:creator>OpenAI</dc:creator>
  <cp:lastModifiedBy>OpenAI</cp:lastModifiedBy>
  <cp:revision>1</cp:revision>
  <dcterms:created xsi:type="dcterms:W3CDTF">2026-09-14T16:47:45Z</dcterms:created>
  <dcterms:modified xsi:type="dcterms:W3CDTF">2026-09-14T16:47:45Z</dcterms:modified>
</cp:coreProperties>
</file>