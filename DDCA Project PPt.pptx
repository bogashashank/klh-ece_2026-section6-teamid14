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589520" y="1005840"/>
            <a:ext cx="4023360" cy="0"/>
          </a:xfrm>
          <a:prstGeom prst="line">
            <a:avLst/>
          </a:prstGeom>
          <a:ln w="19050">
            <a:solidFill>
              <a:srgbClr val="254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543800" y="96012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32519" y="96012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21240" y="96012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67159" y="96012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7589520" y="1508760"/>
            <a:ext cx="4023360" cy="0"/>
          </a:xfrm>
          <a:prstGeom prst="line">
            <a:avLst/>
          </a:prstGeom>
          <a:ln w="19050">
            <a:solidFill>
              <a:srgbClr val="254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543800" y="1463039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732519" y="1463039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21240" y="1463039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567159" y="1463039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7589520" y="2011680"/>
            <a:ext cx="4023360" cy="0"/>
          </a:xfrm>
          <a:prstGeom prst="line">
            <a:avLst/>
          </a:prstGeom>
          <a:ln w="19050">
            <a:solidFill>
              <a:srgbClr val="254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43800" y="196596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32519" y="196596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21240" y="196596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67159" y="196596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7589520" y="5074920"/>
            <a:ext cx="4023360" cy="0"/>
          </a:xfrm>
          <a:prstGeom prst="line">
            <a:avLst/>
          </a:prstGeom>
          <a:ln w="19050">
            <a:solidFill>
              <a:srgbClr val="254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543800" y="502920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32519" y="502920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921240" y="502920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567159" y="502920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7589520" y="5577840"/>
            <a:ext cx="4023360" cy="0"/>
          </a:xfrm>
          <a:prstGeom prst="line">
            <a:avLst/>
          </a:prstGeom>
          <a:ln w="19050">
            <a:solidFill>
              <a:srgbClr val="254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543800" y="553212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732519" y="553212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21240" y="553212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567159" y="5532120"/>
            <a:ext cx="91440" cy="91440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658368"/>
            <a:ext cx="61264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8BEBE"/>
                </a:solidFill>
                <a:latin typeface="Aptos"/>
              </a:defRPr>
            </a:pPr>
            <a:r>
              <a:t>DDCA  |  DIGITAL LOGIC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325880"/>
            <a:ext cx="658368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Design and Simulation of a Digital Data Transmission Error Detection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657600"/>
            <a:ext cx="5943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8CDE4"/>
                </a:solidFill>
                <a:latin typeface="Aptos"/>
              </a:defRPr>
            </a:pPr>
            <a:r>
              <a:t>Even-parity detection with controllable error injection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" y="4434840"/>
            <a:ext cx="5029200" cy="36576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-1531620" y="5385926"/>
            <a:ext cx="603504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                                                       Submitted By:</a:t>
            </a:r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8275320" y="2423160"/>
            <a:ext cx="2377440" cy="1005840"/>
          </a:xfrm>
          <a:prstGeom prst="roundRect">
            <a:avLst>
              <a:gd name="adj" fmla="val 12000"/>
            </a:avLst>
          </a:prstGeom>
          <a:solidFill>
            <a:srgbClr val="143152"/>
          </a:solidFill>
          <a:ln w="15240">
            <a:solidFill>
              <a:srgbClr val="18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2615184"/>
            <a:ext cx="21031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DATA  →  CHECK</a:t>
            </a:r>
          </a:p>
          <a:p>
            <a:pPr algn="ctr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1011  →  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6473952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96B1CD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96B1CD"/>
                </a:solidFill>
                <a:latin typeface="Aptos"/>
              </a:defRPr>
            </a:pPr>
            <a:r>
              <a:t>01/10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7E381D-4674-EE25-5B64-486A5E68EB42}"/>
              </a:ext>
            </a:extLst>
          </p:cNvPr>
          <p:cNvSpPr txBox="1"/>
          <p:nvPr/>
        </p:nvSpPr>
        <p:spPr>
          <a:xfrm>
            <a:off x="1496701" y="5143607"/>
            <a:ext cx="31582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BOGA SHASHANK   2620040175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AKHILESH GOUD    2620040176</a:t>
            </a:r>
          </a:p>
          <a:p>
            <a:r>
              <a:rPr lang="en-US" dirty="0">
                <a:solidFill>
                  <a:schemeClr val="bg2"/>
                </a:solidFill>
              </a:rPr>
              <a:t>SRIJAN SHAW          2620080002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C1B33"/>
                </a:solidFill>
                <a:latin typeface="Aptos"/>
              </a:defRPr>
            </a:pPr>
            <a:r>
              <a:t>Why error detection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77824"/>
            <a:ext cx="914400" cy="50292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29184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01 •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748F"/>
                </a:solidFill>
                <a:latin typeface="Aptos"/>
              </a:defRPr>
            </a:pPr>
            <a:r>
              <a:t>DDCA  •  DIGITAL DATA TRANSMISSION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E748F"/>
                </a:solidFill>
                <a:latin typeface="Aptos"/>
              </a:defRPr>
            </a:pPr>
            <a:r>
              <a:t>02/10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C1B33"/>
                </a:solidFill>
                <a:latin typeface="Aptos"/>
              </a:defRPr>
            </a:pPr>
            <a:r>
              <a:t>Digital data is transmitted as bits.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3035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A noisy or faulty channel can flip a bit—changing the information received. Error detection adds a check so the receiver can identify certain corruptions.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1554480" cy="105156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5240">
            <a:solidFill>
              <a:srgbClr val="196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SENDER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C1B33"/>
                </a:solidFill>
                <a:latin typeface="Aptos"/>
              </a:defRPr>
            </a:pPr>
            <a:r>
              <a:t>1011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406908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5E74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39" y="3703320"/>
            <a:ext cx="1554480" cy="105156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5240">
            <a:solidFill>
              <a:srgbClr val="D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79" y="384048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DC414B"/>
                </a:solidFill>
                <a:latin typeface="Aptos"/>
              </a:defRPr>
            </a:pPr>
            <a:r>
              <a:t>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4160520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C1B33"/>
                </a:solidFill>
                <a:latin typeface="Aptos"/>
              </a:defRPr>
            </a:pPr>
            <a:r>
              <a:t>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406908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5E74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703320"/>
            <a:ext cx="1554480" cy="105156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5240">
            <a:solidFill>
              <a:srgbClr val="694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1999" y="384048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94CCD"/>
                </a:solidFill>
                <a:latin typeface="Aptos"/>
              </a:defRPr>
            </a:pPr>
            <a:r>
              <a:t>RECEIVER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4160520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0C1B33"/>
                </a:solidFill>
                <a:latin typeface="Aptos"/>
              </a:defRPr>
            </a:pPr>
            <a:r>
              <a:t>FLAG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325880"/>
            <a:ext cx="4800600" cy="420624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1691640"/>
            <a:ext cx="4114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6CD2"/>
                </a:solidFill>
                <a:latin typeface="Aptos"/>
              </a:defRPr>
            </a:pPr>
            <a:r>
              <a:t>PROJECT SNAPSHOT</a:t>
            </a:r>
          </a:p>
        </p:txBody>
      </p:sp>
      <p:sp>
        <p:nvSpPr>
          <p:cNvPr id="23" name="Oval 22"/>
          <p:cNvSpPr/>
          <p:nvPr/>
        </p:nvSpPr>
        <p:spPr>
          <a:xfrm>
            <a:off x="6949440" y="2441448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05472" y="2331720"/>
            <a:ext cx="38587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4-bit input data</a:t>
            </a:r>
          </a:p>
        </p:txBody>
      </p:sp>
      <p:sp>
        <p:nvSpPr>
          <p:cNvPr id="25" name="Oval 24"/>
          <p:cNvSpPr/>
          <p:nvPr/>
        </p:nvSpPr>
        <p:spPr>
          <a:xfrm>
            <a:off x="6949440" y="2971800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05472" y="2862072"/>
            <a:ext cx="38587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Even-parity bit generated at sender</a:t>
            </a:r>
          </a:p>
        </p:txBody>
      </p:sp>
      <p:sp>
        <p:nvSpPr>
          <p:cNvPr id="27" name="Oval 26"/>
          <p:cNvSpPr/>
          <p:nvPr/>
        </p:nvSpPr>
        <p:spPr>
          <a:xfrm>
            <a:off x="6949440" y="3502152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5472" y="3392424"/>
            <a:ext cx="38587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Switches inject deliberate bit flips</a:t>
            </a:r>
          </a:p>
        </p:txBody>
      </p:sp>
      <p:sp>
        <p:nvSpPr>
          <p:cNvPr id="29" name="Oval 28"/>
          <p:cNvSpPr/>
          <p:nvPr/>
        </p:nvSpPr>
        <p:spPr>
          <a:xfrm>
            <a:off x="6949440" y="4032503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05472" y="3922775"/>
            <a:ext cx="38587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Receiver outputs ERROR / NO_ERROR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CD2"/>
                </a:solidFill>
                <a:latin typeface="Aptos"/>
              </a:defRPr>
            </a:pPr>
            <a:r>
              <a:t>Core idea: compare the parity of the received word with the expected even-parity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C1B33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77824"/>
            <a:ext cx="914400" cy="50292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29184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02 •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748F"/>
                </a:solidFill>
                <a:latin typeface="Aptos"/>
              </a:defRPr>
            </a:pPr>
            <a:r>
              <a:t>DDCA  •  DIGITAL DATA TRANSMISSION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E748F"/>
                </a:solidFill>
                <a:latin typeface="Aptos"/>
              </a:defRPr>
            </a:pPr>
            <a:r>
              <a:t>03/10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29200" cy="443484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6CD2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434340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C1B33"/>
                </a:solidFill>
                <a:latin typeface="Aptos"/>
              </a:defRPr>
            </a:pPr>
            <a:r>
              <a:t>A transmitted bit may change in transit. Without a check, the receiver may accept corrupted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69080"/>
            <a:ext cx="429768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Need: a simple digital circuit that detects parity mismatches and makes errors visible during simulation.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074920" cy="4434840"/>
          </a:xfrm>
          <a:prstGeom prst="roundRect">
            <a:avLst>
              <a:gd name="adj" fmla="val 12000"/>
            </a:avLst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4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8BEBE"/>
                </a:solidFill>
                <a:latin typeface="Aptos"/>
              </a:defRPr>
            </a:pPr>
            <a:r>
              <a:t>DESIGN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2976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This project uses one even-parity bit for a 4-bit data word.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42976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CDDDEE"/>
                </a:solidFill>
                <a:latin typeface="Aptos"/>
              </a:defRPr>
            </a:pPr>
            <a:r>
              <a:t>It detects odd-numbered bit flips, but can miss even-numbered flips. It does not locate or correct an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C1B33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77824"/>
            <a:ext cx="914400" cy="50292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29184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03 •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748F"/>
                </a:solidFill>
                <a:latin typeface="Aptos"/>
              </a:defRPr>
            </a:pPr>
            <a:r>
              <a:t>DDCA  •  DIGITAL DATA TRANSMISSION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E748F"/>
                </a:solidFill>
                <a:latin typeface="Aptos"/>
              </a:defRPr>
            </a:pPr>
            <a:r>
              <a:t>04/10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BE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463039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C1B33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47088"/>
            <a:ext cx="384048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B2D46"/>
                </a:solidFill>
                <a:latin typeface="Aptos"/>
              </a:defRPr>
            </a:pPr>
            <a:r>
              <a:t>Create even parity for a 4-bit input using XOR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325880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536192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BE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1463039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C1B33"/>
                </a:solidFill>
                <a:latin typeface="Aptos"/>
              </a:defRPr>
            </a:pPr>
            <a:r>
              <a:t>Transmit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1847088"/>
            <a:ext cx="384048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B2D46"/>
                </a:solidFill>
                <a:latin typeface="Aptos"/>
              </a:defRPr>
            </a:pPr>
            <a:r>
              <a:t>Pass data and parity through a modeled channel.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98648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108960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BE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035808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C1B33"/>
                </a:solidFill>
                <a:latin typeface="Aptos"/>
              </a:defRPr>
            </a:pPr>
            <a:r>
              <a:t>Inject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419856"/>
            <a:ext cx="384048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B2D46"/>
                </a:solidFill>
                <a:latin typeface="Aptos"/>
              </a:defRPr>
            </a:pPr>
            <a:r>
              <a:t>Use independent switches to flip selected bits.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898648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3108960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BE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3035808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C1B33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3419856"/>
            <a:ext cx="384048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B2D46"/>
                </a:solidFill>
                <a:latin typeface="Aptos"/>
              </a:defRPr>
            </a:pPr>
            <a:r>
              <a:t>Check received parity and drive status outputs.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471416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681728"/>
            <a:ext cx="548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8BE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608576"/>
            <a:ext cx="37490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C1B33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992624"/>
            <a:ext cx="384048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B2D46"/>
                </a:solidFill>
                <a:latin typeface="Aptos"/>
              </a:defRPr>
            </a:pPr>
            <a:r>
              <a:t>Test normal, single-bit, parity-bit, and double-bit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C1B33"/>
                </a:solidFill>
                <a:latin typeface="Aptos"/>
              </a:defRPr>
            </a:pPr>
            <a:r>
              <a:t>Existing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77824"/>
            <a:ext cx="914400" cy="50292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29184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04 •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748F"/>
                </a:solidFill>
                <a:latin typeface="Aptos"/>
              </a:defRPr>
            </a:pPr>
            <a:r>
              <a:t>DDCA  •  DIGITAL DATA TRANSMISSION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E748F"/>
                </a:solidFill>
                <a:latin typeface="Aptos"/>
              </a:defRPr>
            </a:pPr>
            <a:r>
              <a:t>05/10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5240">
            <a:solidFill>
              <a:srgbClr val="196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429000" cy="137160"/>
          </a:xfrm>
          <a:prstGeom prst="rect">
            <a:avLst/>
          </a:prstGeom>
          <a:solidFill>
            <a:srgbClr val="196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96CD2"/>
                </a:solidFill>
                <a:latin typeface="Aptos"/>
              </a:defRPr>
            </a:pPr>
            <a:r>
              <a:t>PARITY 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51760"/>
            <a:ext cx="28346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C1B33"/>
                </a:solidFill>
                <a:latin typeface="Aptos"/>
              </a:defRPr>
            </a:pPr>
            <a:r>
              <a:t>Adds one bit to indicate even/odd parity.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977639"/>
            <a:ext cx="28346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B2D46"/>
                </a:solidFill>
                <a:latin typeface="Aptos"/>
              </a:defRPr>
            </a:pPr>
            <a:r>
              <a:t>Simple hardware; limited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0020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5240">
            <a:solidFill>
              <a:srgbClr val="1C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3429000" cy="137160"/>
          </a:xfrm>
          <a:prstGeom prst="rect">
            <a:avLst/>
          </a:prstGeom>
          <a:solidFill>
            <a:srgbClr val="1C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82312" y="1965960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CA069"/>
                </a:solidFill>
                <a:latin typeface="Aptos"/>
              </a:defRPr>
            </a:pPr>
            <a:r>
              <a:t>CHECKSUM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651760"/>
            <a:ext cx="28346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C1B33"/>
                </a:solidFill>
                <a:latin typeface="Aptos"/>
              </a:defRPr>
            </a:pPr>
            <a:r>
              <a:t>Computes a summary over a data block.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977639"/>
            <a:ext cx="28346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B2D46"/>
                </a:solidFill>
                <a:latin typeface="Aptos"/>
              </a:defRPr>
            </a:pPr>
            <a:r>
              <a:t>Useful for detecting many data changes.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60020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5240">
            <a:solidFill>
              <a:srgbClr val="694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66760" y="1600200"/>
            <a:ext cx="3429000" cy="137160"/>
          </a:xfrm>
          <a:prstGeom prst="rect">
            <a:avLst/>
          </a:prstGeom>
          <a:solidFill>
            <a:srgbClr val="694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2792" y="1965960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694CCD"/>
                </a:solidFill>
                <a:latin typeface="Aptos"/>
              </a:defRPr>
            </a:pPr>
            <a:r>
              <a:t>CRC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2651760"/>
            <a:ext cx="28346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C1B33"/>
                </a:solidFill>
                <a:latin typeface="Aptos"/>
              </a:defRPr>
            </a:pPr>
            <a:r>
              <a:t>Uses polynomial-based remainder checking.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977639"/>
            <a:ext cx="28346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B2D46"/>
                </a:solidFill>
                <a:latin typeface="Aptos"/>
              </a:defRPr>
            </a:pPr>
            <a:r>
              <a:t>More capable; requires more logic.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CD2"/>
                </a:solidFill>
                <a:latin typeface="Aptos"/>
              </a:defRPr>
            </a:pPr>
            <a:r>
              <a:t>Project choice: parity keeps the circuit compact and makes XOR behavior easy to demonstrate.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C1B33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77824"/>
            <a:ext cx="914400" cy="50292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29184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05 •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748F"/>
                </a:solidFill>
                <a:latin typeface="Aptos"/>
              </a:defRPr>
            </a:pPr>
            <a:r>
              <a:t>DDCA  •  DIGITAL DATA TRANSMISSION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E748F"/>
                </a:solidFill>
                <a:latin typeface="Aptos"/>
              </a:defRPr>
            </a:pPr>
            <a:r>
              <a:t>06/10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200400" cy="182880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5240">
            <a:solidFill>
              <a:srgbClr val="196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96CD2"/>
                </a:solidFill>
                <a:latin typeface="Aptos"/>
              </a:defRPr>
            </a:pPr>
            <a:r>
              <a:t>TRANSMITTER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28346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0C1B33"/>
                </a:solidFill>
                <a:latin typeface="Aptos"/>
              </a:defRPr>
            </a:pPr>
            <a:r>
              <a:t>D3…D0 → parity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1460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5E748F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200400" cy="182880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5240">
            <a:solidFill>
              <a:srgbClr val="1C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148840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CA069"/>
                </a:solidFill>
                <a:latin typeface="Aptos"/>
              </a:defRPr>
            </a:pPr>
            <a:r>
              <a:t>ERROR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743200"/>
            <a:ext cx="28346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0C1B33"/>
                </a:solidFill>
                <a:latin typeface="Aptos"/>
              </a:defRPr>
            </a:pPr>
            <a:r>
              <a:t>Ri = Di ⊕ 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1460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5E748F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200400" cy="182880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 w="15240">
            <a:solidFill>
              <a:srgbClr val="694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2148840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694CCD"/>
                </a:solidFill>
                <a:latin typeface="Aptos"/>
              </a:defRPr>
            </a:pPr>
            <a:r>
              <a:t>RECEIVER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743200"/>
            <a:ext cx="283464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0C1B33"/>
                </a:solidFill>
                <a:latin typeface="Aptos"/>
              </a:defRPr>
            </a:pPr>
            <a:r>
              <a:t>XOR check →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43400"/>
            <a:ext cx="10241280" cy="1005840"/>
          </a:xfrm>
          <a:prstGeom prst="roundRect">
            <a:avLst>
              <a:gd name="adj" fmla="val 12000"/>
            </a:avLst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590288"/>
            <a:ext cx="9692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ERROR = R0 ⊕ R1 ⊕ R2 ⊕ R3 ⊕ PR     |     NO_ERROR = NOT(ERROR)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C1B33"/>
                </a:solidFill>
                <a:latin typeface="Aptos"/>
              </a:defRPr>
            </a:pPr>
            <a:r>
              <a:t>System architecture / block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77824"/>
            <a:ext cx="914400" cy="50292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29184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06 •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748F"/>
                </a:solidFill>
                <a:latin typeface="Aptos"/>
              </a:defRPr>
            </a:pPr>
            <a:r>
              <a:t>DDCA  •  DIGITAL DATA TRANSMISSION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E748F"/>
                </a:solidFill>
                <a:latin typeface="Aptos"/>
              </a:defRPr>
            </a:pPr>
            <a:r>
              <a:t>07/10</a:t>
            </a:r>
          </a:p>
        </p:txBody>
      </p:sp>
      <p:pic>
        <p:nvPicPr>
          <p:cNvPr id="8" name="Picture 7" descr="a_clean_infographic_style_digital_diagram_on_a_w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2014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C1B33"/>
                </a:solidFill>
                <a:latin typeface="Aptos"/>
              </a:defRPr>
            </a:pPr>
            <a:r>
              <a:t>Methodology &amp;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77824"/>
            <a:ext cx="914400" cy="50292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29184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07 •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748F"/>
                </a:solidFill>
                <a:latin typeface="Aptos"/>
              </a:defRPr>
            </a:pPr>
            <a:r>
              <a:t>DDCA  •  DIGITAL DATA TRANSMISSION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E748F"/>
                </a:solidFill>
                <a:latin typeface="Aptos"/>
              </a:defRPr>
            </a:pPr>
            <a:r>
              <a:t>08/10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5303520" cy="452628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6CD2"/>
                </a:solidFill>
                <a:latin typeface="Aptos"/>
              </a:defRPr>
            </a:pPr>
            <a:r>
              <a:t>LOGIC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45720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C1B33"/>
                </a:solidFill>
                <a:latin typeface="Aptos"/>
              </a:defRPr>
            </a:pPr>
            <a:r>
              <a:t>Parity:  P = D0 ⊕ D1 ⊕ D2 ⊕ D3</a:t>
            </a:r>
          </a:p>
          <a:p>
            <a:pPr>
              <a:spcAft>
                <a:spcPts val="700"/>
              </a:spcAft>
              <a:defRPr sz="1700" b="1">
                <a:solidFill>
                  <a:srgbClr val="0C1B33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1">
                <a:solidFill>
                  <a:srgbClr val="0C1B33"/>
                </a:solidFill>
                <a:latin typeface="Aptos"/>
              </a:defRPr>
            </a:pPr>
            <a:r>
              <a:t>Channel:  Ri = Di ⊕ Fi</a:t>
            </a:r>
          </a:p>
          <a:p>
            <a:pPr>
              <a:spcAft>
                <a:spcPts val="700"/>
              </a:spcAft>
              <a:defRPr sz="1700" b="1">
                <a:solidFill>
                  <a:srgbClr val="0C1B33"/>
                </a:solidFill>
                <a:latin typeface="Aptos"/>
              </a:defRPr>
            </a:pPr>
            <a:r>
              <a:t>              PR = P ⊕ Fp</a:t>
            </a:r>
          </a:p>
          <a:p>
            <a:pPr>
              <a:spcAft>
                <a:spcPts val="700"/>
              </a:spcAft>
              <a:defRPr sz="1700" b="1">
                <a:solidFill>
                  <a:srgbClr val="0C1B33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1">
                <a:solidFill>
                  <a:srgbClr val="0C1B33"/>
                </a:solidFill>
                <a:latin typeface="Aptos"/>
              </a:defRPr>
            </a:pPr>
            <a:r>
              <a:t>Checker: ERROR = R0 ⊕ R1 ⊕ R2 ⊕ R3 ⊕ 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4480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B2D46"/>
                </a:solidFill>
                <a:latin typeface="Aptos"/>
              </a:defRPr>
            </a:pPr>
            <a:r>
              <a:t>Use XOR gates, input pins, switches, and LEDs.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280160"/>
            <a:ext cx="5074920" cy="4526280"/>
          </a:xfrm>
          <a:prstGeom prst="roundRect">
            <a:avLst>
              <a:gd name="adj" fmla="val 12000"/>
            </a:avLst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64592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8BEBE"/>
                </a:solidFill>
                <a:latin typeface="Aptos"/>
              </a:defRPr>
            </a:pPr>
            <a:r>
              <a:t>BUILD SEQUENCE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2350008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76872" y="2240280"/>
            <a:ext cx="399592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Create transmitter parity XOR chain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3063240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76872" y="2953512"/>
            <a:ext cx="399592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Add five channel XOR gates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3776472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76872" y="3666744"/>
            <a:ext cx="399592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Add receiver XOR tree + NOT gate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4489704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76872" y="4379976"/>
            <a:ext cx="399592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Wire status LEDs and verify test vectors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C1B33"/>
                </a:solidFill>
                <a:latin typeface="Aptos"/>
              </a:defRPr>
            </a:pPr>
            <a:r>
              <a:t>Results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77824"/>
            <a:ext cx="914400" cy="50292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29184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08 •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748F"/>
                </a:solidFill>
                <a:latin typeface="Aptos"/>
              </a:defRPr>
            </a:pPr>
            <a:r>
              <a:t>DDCA  •  DIGITAL DATA TRANSMISSION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E748F"/>
                </a:solidFill>
                <a:latin typeface="Aptos"/>
              </a:defRPr>
            </a:pPr>
            <a:r>
              <a:t>09/10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CD2"/>
                </a:solidFill>
                <a:latin typeface="Aptos"/>
              </a:defRPr>
            </a:pPr>
            <a:r>
              <a:t>Expected behavior (confirm against your own Logisim simulation)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1234440" cy="50292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901952"/>
            <a:ext cx="116128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783080"/>
            <a:ext cx="731520" cy="50292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93976" y="1901952"/>
            <a:ext cx="6583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783080"/>
            <a:ext cx="2148840" cy="50292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62656" y="1901952"/>
            <a:ext cx="207568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FLIPS F0…Fp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783080"/>
            <a:ext cx="1920240" cy="50292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48656" y="1901952"/>
            <a:ext cx="184708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RECEIVED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783080"/>
            <a:ext cx="731520" cy="50292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51775" y="1901952"/>
            <a:ext cx="6583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83080"/>
            <a:ext cx="3108960" cy="502920"/>
          </a:xfrm>
          <a:prstGeom prst="rect">
            <a:avLst/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5" y="1901952"/>
            <a:ext cx="30358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331720"/>
            <a:ext cx="123444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2478024"/>
            <a:ext cx="11612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1011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2331720"/>
            <a:ext cx="73152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93976" y="2478024"/>
            <a:ext cx="658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331720"/>
            <a:ext cx="214884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62656" y="2478024"/>
            <a:ext cx="20756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00000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2331720"/>
            <a:ext cx="192024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48656" y="2478024"/>
            <a:ext cx="18470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1011 + 1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331720"/>
            <a:ext cx="73152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51775" y="2478024"/>
            <a:ext cx="658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B2D4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331720"/>
            <a:ext cx="310896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66175" y="2478024"/>
            <a:ext cx="303580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No error detected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081527"/>
            <a:ext cx="123444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3227832"/>
            <a:ext cx="11612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1011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3081527"/>
            <a:ext cx="73152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93976" y="3227832"/>
            <a:ext cx="658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3081527"/>
            <a:ext cx="214884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62656" y="3227832"/>
            <a:ext cx="20756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10000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3081527"/>
            <a:ext cx="192024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48656" y="3227832"/>
            <a:ext cx="18470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0011 + 1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3081527"/>
            <a:ext cx="73152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51775" y="3227832"/>
            <a:ext cx="658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B2D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081527"/>
            <a:ext cx="310896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66175" y="3227832"/>
            <a:ext cx="303580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Single data-bit error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831335"/>
            <a:ext cx="123444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8096" y="3977639"/>
            <a:ext cx="11612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1011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3831335"/>
            <a:ext cx="73152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093976" y="3977639"/>
            <a:ext cx="658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831335"/>
            <a:ext cx="214884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62656" y="3977639"/>
            <a:ext cx="20756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00001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80" y="3831335"/>
            <a:ext cx="192024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48656" y="3977639"/>
            <a:ext cx="18470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1011 + 0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3831335"/>
            <a:ext cx="73152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51775" y="3977639"/>
            <a:ext cx="658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B2D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3831335"/>
            <a:ext cx="3108960" cy="713232"/>
          </a:xfrm>
          <a:prstGeom prst="rect">
            <a:avLst/>
          </a:prstGeom>
          <a:solidFill>
            <a:srgbClr val="EEF5FC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66175" y="3977639"/>
            <a:ext cx="303580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Parity-bit error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4581144"/>
            <a:ext cx="123444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68096" y="4727448"/>
            <a:ext cx="11612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1011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4581144"/>
            <a:ext cx="73152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093976" y="4727448"/>
            <a:ext cx="658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4581144"/>
            <a:ext cx="214884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62656" y="4727448"/>
            <a:ext cx="20756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11000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12080" y="4581144"/>
            <a:ext cx="192024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656" y="4727448"/>
            <a:ext cx="184708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0111 + 1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0" y="4581144"/>
            <a:ext cx="73152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51775" y="4727448"/>
            <a:ext cx="658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B2D4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0" y="4581144"/>
            <a:ext cx="3108960" cy="713232"/>
          </a:xfrm>
          <a:prstGeom prst="rect">
            <a:avLst/>
          </a:prstGeom>
          <a:solidFill>
            <a:srgbClr val="F8FAFD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66175" y="4727448"/>
            <a:ext cx="303580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1B2D46"/>
                </a:solidFill>
                <a:latin typeface="Aptos"/>
              </a:defRPr>
            </a:pPr>
            <a:r>
              <a:t>Two flips can escape detection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5577840"/>
            <a:ext cx="10424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DC414B"/>
                </a:solidFill>
                <a:latin typeface="Aptos"/>
              </a:defRPr>
            </a:pPr>
            <a:r>
              <a:t>Key finding: single parity detects odd flips; an even number of flips may preserve parity.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C1B33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77824"/>
            <a:ext cx="914400" cy="50292"/>
          </a:xfrm>
          <a:prstGeom prst="rect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29184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96CD2"/>
                </a:solidFill>
                <a:latin typeface="Aptos"/>
              </a:defRPr>
            </a:pPr>
            <a:r>
              <a:t>09 • 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E748F"/>
                </a:solidFill>
                <a:latin typeface="Aptos"/>
              </a:defRPr>
            </a:pPr>
            <a:r>
              <a:t>DDCA  •  DIGITAL DATA TRANSMISSION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E748F"/>
                </a:solidFill>
                <a:latin typeface="Aptos"/>
              </a:defRPr>
            </a:pPr>
            <a:r>
              <a:t>10/10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492240" cy="4480560"/>
          </a:xfrm>
          <a:prstGeom prst="roundRect">
            <a:avLst>
              <a:gd name="adj" fmla="val 12000"/>
            </a:avLst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5669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96CD2"/>
                </a:solidFill>
                <a:latin typeface="Aptos"/>
              </a:defRPr>
            </a:pPr>
            <a:r>
              <a:t>WHAT THIS PROJECT DEMONSTRATES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441448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53312" y="2331720"/>
            <a:ext cx="5230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Parity generation with XOR gates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2971800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2862072"/>
            <a:ext cx="5230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Controllable bit corruption in a channel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502152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3392424"/>
            <a:ext cx="5230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Receiver-side parity mismatch indication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032503"/>
            <a:ext cx="109728" cy="109728"/>
          </a:xfrm>
          <a:prstGeom prst="ellipse">
            <a:avLst/>
          </a:prstGeom>
          <a:solidFill>
            <a:srgbClr val="18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3312" y="3922775"/>
            <a:ext cx="5230368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B2D46"/>
                </a:solidFill>
                <a:latin typeface="Aptos"/>
              </a:defRPr>
            </a:pPr>
            <a:r>
              <a:t>Simulation-based verification of expected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25880"/>
            <a:ext cx="3657600" cy="4480560"/>
          </a:xfrm>
          <a:prstGeom prst="roundRect">
            <a:avLst>
              <a:gd name="adj" fmla="val 12000"/>
            </a:avLst>
          </a:prstGeom>
          <a:solidFill>
            <a:srgbClr val="0C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169164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8BEB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331720"/>
            <a:ext cx="28803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• Two-dimensional parity</a:t>
            </a: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• CRC-based detection</a:t>
            </a: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• Error location / correction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424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5E748F"/>
                </a:solidFill>
                <a:latin typeface="Aptos"/>
              </a:defRPr>
            </a:pPr>
            <a:r>
              <a:t>Before submission: replace placeholders and insert screenshots from your completed Logisim circuit.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692</Words>
  <Application>Microsoft Office PowerPoint</Application>
  <PresentationFormat>Widescreen</PresentationFormat>
  <Paragraphs>159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Boga Shashank</cp:lastModifiedBy>
  <cp:revision>2</cp:revision>
  <dcterms:created xsi:type="dcterms:W3CDTF">2013-01-27T09:14:16Z</dcterms:created>
  <dcterms:modified xsi:type="dcterms:W3CDTF">2026-09-18T08:08:32Z</dcterms:modified>
  <cp:category/>
</cp:coreProperties>
</file>